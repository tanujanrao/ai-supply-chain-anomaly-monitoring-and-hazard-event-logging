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12192000"/>
  <p:embeddedFontLst>
    <p:embeddedFont>
      <p:font typeface="Epilogue Bold" panose="020B0604020202020204" charset="0"/>
      <p:regular r:id="rId8"/>
    </p:embeddedFont>
    <p:embeddedFont>
      <p:font typeface="Epilogue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eorgia" panose="02040502050405020303" pitchFamily="18" charset="0"/>
      <p:regular r:id="rId14"/>
      <p:bold r:id="rId15"/>
      <p:italic r:id="rId16"/>
      <p:boldItalic r:id="rId17"/>
    </p:embeddedFont>
    <p:embeddedFont>
      <p:font typeface="Fraunces Medium" panose="020B0604020202020204" charset="0"/>
      <p:regular r:id="rId18"/>
    </p:embeddedFont>
    <p:embeddedFont>
      <p:font typeface="Fraunces Light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ln w="25400" cap="flat">
              <a:solidFill>
                <a:srgbClr val="2F5FD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F5FDA"/>
              </a:solidFill>
              <a:ln w="9525" cap="flat">
                <a:solidFill>
                  <a:srgbClr val="2F5FD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W3 Apr</c:v>
                </c:pt>
                <c:pt idx="1">
                  <c:v>W4 Apr</c:v>
                </c:pt>
                <c:pt idx="2">
                  <c:v>W1 May</c:v>
                </c:pt>
                <c:pt idx="3">
                  <c:v>W2 May</c:v>
                </c:pt>
                <c:pt idx="4">
                  <c:v>W4 May</c:v>
                </c:pt>
                <c:pt idx="5">
                  <c:v>W1 Jun</c:v>
                </c:pt>
                <c:pt idx="6">
                  <c:v>W2 Jun</c:v>
                </c:pt>
                <c:pt idx="7">
                  <c:v>W4 Jun</c:v>
                </c:pt>
                <c:pt idx="8">
                  <c:v>W5 Jun</c:v>
                </c:pt>
                <c:pt idx="9">
                  <c:v>W1 Jul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F7-45E7-8CA4-D958AF0FF0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Score</c:v>
                </c:pt>
              </c:strCache>
            </c:strRef>
          </c:tx>
          <c:spPr>
            <a:ln w="25400" cap="flat">
              <a:solidFill>
                <a:srgbClr val="F0932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0932B"/>
              </a:solidFill>
              <a:ln w="9525" cap="flat">
                <a:solidFill>
                  <a:srgbClr val="F0932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W3 Apr</c:v>
                </c:pt>
                <c:pt idx="1">
                  <c:v>W4 Apr</c:v>
                </c:pt>
                <c:pt idx="2">
                  <c:v>W1 May</c:v>
                </c:pt>
                <c:pt idx="3">
                  <c:v>W2 May</c:v>
                </c:pt>
                <c:pt idx="4">
                  <c:v>W4 May</c:v>
                </c:pt>
                <c:pt idx="5">
                  <c:v>W1 Jun</c:v>
                </c:pt>
                <c:pt idx="6">
                  <c:v>W2 Jun</c:v>
                </c:pt>
                <c:pt idx="7">
                  <c:v>W4 Jun</c:v>
                </c:pt>
                <c:pt idx="8">
                  <c:v>W5 Jun</c:v>
                </c:pt>
                <c:pt idx="9">
                  <c:v>W1 Jul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</c:v>
                </c:pt>
                <c:pt idx="1">
                  <c:v>45</c:v>
                </c:pt>
                <c:pt idx="2">
                  <c:v>23</c:v>
                </c:pt>
                <c:pt idx="3">
                  <c:v>43</c:v>
                </c:pt>
                <c:pt idx="4">
                  <c:v>25</c:v>
                </c:pt>
                <c:pt idx="5">
                  <c:v>22</c:v>
                </c:pt>
                <c:pt idx="6">
                  <c:v>24</c:v>
                </c:pt>
                <c:pt idx="7">
                  <c:v>55</c:v>
                </c:pt>
                <c:pt idx="8">
                  <c:v>50</c:v>
                </c:pt>
                <c:pt idx="9">
                  <c:v>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F7-45E7-8CA4-D958AF0FF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65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1AAE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Loading Dock</c:v>
                </c:pt>
                <c:pt idx="1">
                  <c:v>Receiving Area</c:v>
                </c:pt>
                <c:pt idx="2">
                  <c:v>Storage Bay 3</c:v>
                </c:pt>
                <c:pt idx="3">
                  <c:v>Processing Unit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A1-424D-BFD9-81CC0BBFEE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6C2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Loading Dock</c:v>
                </c:pt>
                <c:pt idx="1">
                  <c:v>Receiving Area</c:v>
                </c:pt>
                <c:pt idx="2">
                  <c:v>Storage Bay 3</c:v>
                </c:pt>
                <c:pt idx="3">
                  <c:v>Processing Unit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A1-424D-BFD9-81CC0BBFEE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093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Loading Dock</c:v>
                </c:pt>
                <c:pt idx="1">
                  <c:v>Receiving Area</c:v>
                </c:pt>
                <c:pt idx="2">
                  <c:v>Storage Bay 3</c:v>
                </c:pt>
                <c:pt idx="3">
                  <c:v>Processing Unit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A1-424D-BFD9-81CC0BBFEE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Loading Dock</c:v>
                </c:pt>
                <c:pt idx="1">
                  <c:v>Receiving Area</c:v>
                </c:pt>
                <c:pt idx="2">
                  <c:v>Storage Bay 3</c:v>
                </c:pt>
                <c:pt idx="3">
                  <c:v>Processing Unit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A1-424D-BFD9-81CC0BBFEE6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453368111864428"/>
          <c:y val="0.85546747534936507"/>
          <c:w val="0.35093263776271144"/>
          <c:h val="9.9487479605589846E-2"/>
        </c:manualLayout>
      </c:layout>
      <c:overlay val="0"/>
      <c:txPr>
        <a:bodyPr/>
        <a:lstStyle/>
        <a:p>
          <a:pPr>
            <a:defRPr sz="6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Hazard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F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E1-4BD5-9949-14414DF4FC04}"/>
              </c:ext>
            </c:extLst>
          </c:dPt>
          <c:dPt>
            <c:idx val="1"/>
            <c:bubble3D val="0"/>
            <c:spPr>
              <a:solidFill>
                <a:srgbClr val="F093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E1-4BD5-9949-14414DF4FC04}"/>
              </c:ext>
            </c:extLst>
          </c:dPt>
          <c:dPt>
            <c:idx val="2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E1-4BD5-9949-14414DF4FC04}"/>
              </c:ext>
            </c:extLst>
          </c:dPt>
          <c:dPt>
            <c:idx val="3"/>
            <c:bubble3D val="0"/>
            <c:spPr>
              <a:solidFill>
                <a:srgbClr val="E54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E1-4BD5-9949-14414DF4FC04}"/>
              </c:ext>
            </c:extLst>
          </c:dPt>
          <c:dLbls>
            <c:dLbl>
              <c:idx val="0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6E1-4BD5-9949-14414DF4FC04}"/>
                </c:ext>
              </c:extLst>
            </c:dLbl>
            <c:dLbl>
              <c:idx val="1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6E1-4BD5-9949-14414DF4FC04}"/>
                </c:ext>
              </c:extLst>
            </c:dLbl>
            <c:dLbl>
              <c:idx val="2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6E1-4BD5-9949-14414DF4FC04}"/>
                </c:ext>
              </c:extLst>
            </c:dLbl>
            <c:dLbl>
              <c:idx val="3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6E1-4BD5-9949-14414DF4FC04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Toxic</c:v>
                </c:pt>
                <c:pt idx="1">
                  <c:v>Flammable</c:v>
                </c:pt>
                <c:pt idx="2">
                  <c:v>Non-Hazardous</c:v>
                </c:pt>
                <c:pt idx="3">
                  <c:v>Corrosive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E1-4BD5-9949-14414DF4F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924097266997952"/>
          <c:y val="0.85093400487101278"/>
          <c:w val="0.56841080348827366"/>
          <c:h val="0.10402095008394222"/>
        </c:manualLayout>
      </c:layout>
      <c:overlay val="0"/>
      <c:txPr>
        <a:bodyPr/>
        <a:lstStyle/>
        <a:p>
          <a:pPr>
            <a:defRPr sz="65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27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8" Type="http://schemas.openxmlformats.org/officeDocument/2006/relationships/image" Target="../media/image-2-6.svg"/><Relationship Id="rId3" Type="http://schemas.openxmlformats.org/officeDocument/2006/relationships/image" Target="../media/image3.png"/><Relationship Id="rId12" Type="http://schemas.openxmlformats.org/officeDocument/2006/relationships/image" Target="../media/image-2-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6" Type="http://schemas.openxmlformats.org/officeDocument/2006/relationships/image" Target="../media/image-2-4.svg"/><Relationship Id="rId15" Type="http://schemas.openxmlformats.org/officeDocument/2006/relationships/image" Target="../media/image7.png"/><Relationship Id="rId10" Type="http://schemas.openxmlformats.org/officeDocument/2006/relationships/image" Target="../media/image-2-8.svg"/><Relationship Id="rId4" Type="http://schemas.openxmlformats.org/officeDocument/2006/relationships/image" Target="../media/image-2-2.svg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39938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smtClean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Supply </a:t>
            </a: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Chain Anomaly Monitoring &amp; Hazard Event Logging Pipeline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838178"/>
            <a:ext cx="6296860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Nexus Ops Solutions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 |  Tanuja N  |  Rashmi 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Automating Supply Chain Risk Monitoring using n8n, AI Agents, Google Sheets, and Lovable Dashboard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069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Challenge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8229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Organizations receive shipment updates and operational incident reports from multiple fragmented sources — creating critical blind spots in supply chain risk management.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0273" y="1760290"/>
            <a:ext cx="10667051" cy="1031802"/>
          </a:xfrm>
          <a:prstGeom prst="roundRect">
            <a:avLst>
              <a:gd name="adj" fmla="val 223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00765" y="1898154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Strategic Goal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0764" y="2237184"/>
            <a:ext cx="10526559" cy="394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an AI-powered workflow that automatically detects risks, prioritizes incidents and presents executive insights through modern dashboards — eliminating manual overhead and accelerating decision velocity.</a:t>
            </a:r>
            <a:endParaRPr lang="en-US" sz="1100" b="1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3643" y="2983626"/>
            <a:ext cx="210835" cy="210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03934" y="2989778"/>
            <a:ext cx="493263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Delayed Notifications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603934" y="3328808"/>
            <a:ext cx="493263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Management alerts lag behind real-time events, slowing response time significantly.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3643" y="4008357"/>
            <a:ext cx="210835" cy="2108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03934" y="4014509"/>
            <a:ext cx="493263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Time-Consuming Decisions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603934" y="4353539"/>
            <a:ext cx="493263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Analysts spend hours aggregating data instead of acting on insights.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278" y="2966633"/>
            <a:ext cx="210835" cy="210840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930569" y="2972784"/>
            <a:ext cx="493263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Manual Monitoring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930569" y="3311815"/>
            <a:ext cx="493263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Shipment delays and operational incidents tracked by hand, prone to error and latency.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278" y="3991364"/>
            <a:ext cx="210835" cy="210840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930569" y="3997516"/>
            <a:ext cx="493263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Slow Hazard Identification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930569" y="4336546"/>
            <a:ext cx="493263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High-risk events surface too late for proactive intervention.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273" y="5009944"/>
            <a:ext cx="210835" cy="21084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890564" y="5016095"/>
            <a:ext cx="493263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Centralized Visibility</a:t>
            </a:r>
            <a:endParaRPr lang="en-US" sz="1350" dirty="0"/>
          </a:p>
        </p:txBody>
      </p:sp>
      <p:sp>
        <p:nvSpPr>
          <p:cNvPr id="30" name="Text 10"/>
          <p:cNvSpPr/>
          <p:nvPr/>
        </p:nvSpPr>
        <p:spPr>
          <a:xfrm>
            <a:off x="890564" y="5355126"/>
            <a:ext cx="493263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Siloed data across systems with no unified operational view.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End-to-End AI Workflow</a:t>
            </a:r>
            <a:endParaRPr lang="en-US" sz="1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57622"/>
            <a:ext cx="8876663" cy="3973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68639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Automated Pipeline Architecture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661475" y="4772223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400" dirty="0"/>
          </a:p>
        </p:txBody>
      </p:sp>
      <p:sp>
        <p:nvSpPr>
          <p:cNvPr id="6" name="Shape 3"/>
          <p:cNvSpPr/>
          <p:nvPr/>
        </p:nvSpPr>
        <p:spPr>
          <a:xfrm>
            <a:off x="661475" y="4857155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896644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Google Sheets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661475" y="4998045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Ingests raw shipment and incident data from operational sources</a:t>
            </a:r>
            <a:endParaRPr lang="en-US" sz="400" dirty="0"/>
          </a:p>
        </p:txBody>
      </p:sp>
      <p:sp>
        <p:nvSpPr>
          <p:cNvPr id="9" name="Text 6"/>
          <p:cNvSpPr/>
          <p:nvPr/>
        </p:nvSpPr>
        <p:spPr>
          <a:xfrm>
            <a:off x="661475" y="5112742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400" dirty="0"/>
          </a:p>
        </p:txBody>
      </p:sp>
      <p:sp>
        <p:nvSpPr>
          <p:cNvPr id="10" name="Shape 7"/>
          <p:cNvSpPr/>
          <p:nvPr/>
        </p:nvSpPr>
        <p:spPr>
          <a:xfrm>
            <a:off x="661475" y="5197673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5237163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Cleaning &amp; Normalization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661475" y="5338564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JavaScript transforms and standardizes records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661475" y="5453261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400" dirty="0"/>
          </a:p>
        </p:txBody>
      </p:sp>
      <p:sp>
        <p:nvSpPr>
          <p:cNvPr id="14" name="Shape 11"/>
          <p:cNvSpPr/>
          <p:nvPr/>
        </p:nvSpPr>
        <p:spPr>
          <a:xfrm>
            <a:off x="661475" y="5538192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5577681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Unified Operations Engine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661475" y="5679083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Merges supply chain and hazard event streams</a:t>
            </a:r>
            <a:endParaRPr lang="en-US" sz="400" dirty="0"/>
          </a:p>
        </p:txBody>
      </p:sp>
      <p:sp>
        <p:nvSpPr>
          <p:cNvPr id="17" name="Text 14"/>
          <p:cNvSpPr/>
          <p:nvPr/>
        </p:nvSpPr>
        <p:spPr>
          <a:xfrm>
            <a:off x="661475" y="5793780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661475" y="5878711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9" name="Text 16"/>
          <p:cNvSpPr/>
          <p:nvPr/>
        </p:nvSpPr>
        <p:spPr>
          <a:xfrm>
            <a:off x="661475" y="5918200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Risk Assessment (Groq LLM)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61475" y="6019602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Scores each incident for severity and priority</a:t>
            </a:r>
            <a:endParaRPr lang="en-US" sz="400" dirty="0"/>
          </a:p>
        </p:txBody>
      </p:sp>
      <p:sp>
        <p:nvSpPr>
          <p:cNvPr id="21" name="Text 18"/>
          <p:cNvSpPr/>
          <p:nvPr/>
        </p:nvSpPr>
        <p:spPr>
          <a:xfrm>
            <a:off x="661475" y="6134298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661475" y="6219230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3" name="Text 20"/>
          <p:cNvSpPr/>
          <p:nvPr/>
        </p:nvSpPr>
        <p:spPr>
          <a:xfrm>
            <a:off x="661475" y="6258719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 Classification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661475" y="6360120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Categorizes events: Critical / High / Medium / Low</a:t>
            </a:r>
            <a:endParaRPr lang="en-US" sz="400" dirty="0"/>
          </a:p>
        </p:txBody>
      </p:sp>
      <p:sp>
        <p:nvSpPr>
          <p:cNvPr id="25" name="Text 22"/>
          <p:cNvSpPr/>
          <p:nvPr/>
        </p:nvSpPr>
        <p:spPr>
          <a:xfrm>
            <a:off x="661475" y="6474817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661475" y="6559748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7" name="Text 24"/>
          <p:cNvSpPr/>
          <p:nvPr/>
        </p:nvSpPr>
        <p:spPr>
          <a:xfrm>
            <a:off x="661475" y="6599238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Critical Incident Notification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61475" y="6700639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Automated Gmail alerts dispatched to stakeholders</a:t>
            </a:r>
            <a:endParaRPr lang="en-US" sz="400" dirty="0"/>
          </a:p>
        </p:txBody>
      </p:sp>
      <p:sp>
        <p:nvSpPr>
          <p:cNvPr id="29" name="Text 26"/>
          <p:cNvSpPr/>
          <p:nvPr/>
        </p:nvSpPr>
        <p:spPr>
          <a:xfrm>
            <a:off x="661475" y="6815336"/>
            <a:ext cx="107451" cy="67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07</a:t>
            </a:r>
            <a:endParaRPr lang="en-US" sz="400" dirty="0"/>
          </a:p>
        </p:txBody>
      </p:sp>
      <p:sp>
        <p:nvSpPr>
          <p:cNvPr id="30" name="Shape 27"/>
          <p:cNvSpPr/>
          <p:nvPr/>
        </p:nvSpPr>
        <p:spPr>
          <a:xfrm>
            <a:off x="661475" y="6900267"/>
            <a:ext cx="5368890" cy="63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1" name="Text 28"/>
          <p:cNvSpPr/>
          <p:nvPr/>
        </p:nvSpPr>
        <p:spPr>
          <a:xfrm>
            <a:off x="661475" y="6939756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Executive Dashboard Publishing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661475" y="7041158"/>
            <a:ext cx="5368890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Processed data pushed to Lovable</a:t>
            </a:r>
            <a:endParaRPr lang="en-US" sz="400" dirty="0"/>
          </a:p>
        </p:txBody>
      </p:sp>
      <p:sp>
        <p:nvSpPr>
          <p:cNvPr id="33" name="Text 30"/>
          <p:cNvSpPr/>
          <p:nvPr/>
        </p:nvSpPr>
        <p:spPr>
          <a:xfrm>
            <a:off x="6167680" y="4668639"/>
            <a:ext cx="536889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Technologies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6167680" y="4772223"/>
            <a:ext cx="2675664" cy="278408"/>
          </a:xfrm>
          <a:prstGeom prst="roundRect">
            <a:avLst>
              <a:gd name="adj" fmla="val 8109"/>
            </a:avLst>
          </a:prstGeom>
          <a:solidFill>
            <a:srgbClr val="080E26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27706" y="4832251"/>
            <a:ext cx="255561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Orchestration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6227706" y="4933652"/>
            <a:ext cx="2555613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n8n workflow automation</a:t>
            </a:r>
            <a:endParaRPr lang="en-US" sz="400" dirty="0"/>
          </a:p>
        </p:txBody>
      </p:sp>
      <p:sp>
        <p:nvSpPr>
          <p:cNvPr id="37" name="Shape 34"/>
          <p:cNvSpPr/>
          <p:nvPr/>
        </p:nvSpPr>
        <p:spPr>
          <a:xfrm>
            <a:off x="8860806" y="4772223"/>
            <a:ext cx="2675764" cy="278408"/>
          </a:xfrm>
          <a:prstGeom prst="roundRect">
            <a:avLst>
              <a:gd name="adj" fmla="val 8109"/>
            </a:avLst>
          </a:prstGeom>
          <a:solidFill>
            <a:srgbClr val="080E26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20832" y="4832251"/>
            <a:ext cx="2555712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Layer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8920832" y="4933652"/>
            <a:ext cx="2555712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Google Sheets, JavaScript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6167680" y="5068094"/>
            <a:ext cx="2675664" cy="278408"/>
          </a:xfrm>
          <a:prstGeom prst="roundRect">
            <a:avLst>
              <a:gd name="adj" fmla="val 8109"/>
            </a:avLst>
          </a:prstGeom>
          <a:solidFill>
            <a:srgbClr val="080E26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27706" y="5128121"/>
            <a:ext cx="255561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Engine</a:t>
            </a:r>
            <a:endParaRPr lang="en-US" sz="500" dirty="0"/>
          </a:p>
        </p:txBody>
      </p:sp>
      <p:sp>
        <p:nvSpPr>
          <p:cNvPr id="42" name="Text 39"/>
          <p:cNvSpPr/>
          <p:nvPr/>
        </p:nvSpPr>
        <p:spPr>
          <a:xfrm>
            <a:off x="6227706" y="5229523"/>
            <a:ext cx="2555613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Groq LLM</a:t>
            </a:r>
            <a:endParaRPr lang="en-US" sz="400" dirty="0"/>
          </a:p>
        </p:txBody>
      </p:sp>
      <p:sp>
        <p:nvSpPr>
          <p:cNvPr id="43" name="Shape 40"/>
          <p:cNvSpPr/>
          <p:nvPr/>
        </p:nvSpPr>
        <p:spPr>
          <a:xfrm>
            <a:off x="8860806" y="5068094"/>
            <a:ext cx="2675764" cy="278408"/>
          </a:xfrm>
          <a:prstGeom prst="roundRect">
            <a:avLst>
              <a:gd name="adj" fmla="val 8109"/>
            </a:avLst>
          </a:prstGeom>
          <a:solidFill>
            <a:srgbClr val="080E26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20832" y="5128121"/>
            <a:ext cx="2555712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Notifications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920832" y="5229523"/>
            <a:ext cx="2555712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Gmail</a:t>
            </a:r>
            <a:endParaRPr lang="en-US" sz="400" dirty="0"/>
          </a:p>
        </p:txBody>
      </p:sp>
      <p:sp>
        <p:nvSpPr>
          <p:cNvPr id="46" name="Shape 43"/>
          <p:cNvSpPr/>
          <p:nvPr/>
        </p:nvSpPr>
        <p:spPr>
          <a:xfrm>
            <a:off x="6167680" y="5363964"/>
            <a:ext cx="5368890" cy="278408"/>
          </a:xfrm>
          <a:prstGeom prst="roundRect">
            <a:avLst>
              <a:gd name="adj" fmla="val 8109"/>
            </a:avLst>
          </a:prstGeom>
          <a:solidFill>
            <a:srgbClr val="080E26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27706" y="5423991"/>
            <a:ext cx="52488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Dashboards</a:t>
            </a:r>
            <a:endParaRPr lang="en-US" sz="500" dirty="0"/>
          </a:p>
        </p:txBody>
      </p:sp>
      <p:sp>
        <p:nvSpPr>
          <p:cNvPr id="48" name="Text 45"/>
          <p:cNvSpPr/>
          <p:nvPr/>
        </p:nvSpPr>
        <p:spPr>
          <a:xfrm>
            <a:off x="6227706" y="5525393"/>
            <a:ext cx="5248838" cy="5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Lovable</a:t>
            </a:r>
            <a:endParaRPr lang="en-US" sz="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Overview — 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7D2E8"/>
                </a:solidFill>
              </a:rPr>
              <a:t>Real-time incident intelligence, supply chain risk &amp; AI recommendations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2476" y="1014984"/>
            <a:ext cx="146304" cy="146304"/>
          </a:xfrm>
          <a:prstGeom prst="rect">
            <a:avLst/>
          </a:prstGeom>
          <a:solidFill>
            <a:srgbClr val="2F5FD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TOTAL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INCIDENTS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438912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E5484D"/>
                </a:solidFill>
              </a:rPr>
              <a:t>▼12% vs last wk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810512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7228" y="1014984"/>
            <a:ext cx="146304" cy="14630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3" name="Text 11"/>
          <p:cNvSpPr/>
          <p:nvPr/>
        </p:nvSpPr>
        <p:spPr>
          <a:xfrm>
            <a:off x="1883664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CRITICAL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INCIDENTS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1883664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83664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AAE7D"/>
                </a:solidFill>
              </a:rPr>
              <a:t>▲5% vs last wk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55264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1980" y="1014984"/>
            <a:ext cx="146304" cy="146304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OPEN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INCIDENTS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3328416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28416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E5484D"/>
                </a:solidFill>
              </a:rPr>
              <a:t>▼8% vs last wk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700016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6732" y="1014984"/>
            <a:ext cx="146304" cy="146304"/>
          </a:xfrm>
          <a:prstGeom prst="rect">
            <a:avLst/>
          </a:prstGeom>
          <a:solidFill>
            <a:srgbClr val="1AAE7D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CLOSED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INCIDENTS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4773168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73168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AAE7D"/>
                </a:solidFill>
              </a:rPr>
              <a:t>▲14% vs last wk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144768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01484" y="1014984"/>
            <a:ext cx="146304" cy="146304"/>
          </a:xfrm>
          <a:prstGeom prst="rect">
            <a:avLst/>
          </a:prstGeom>
          <a:solidFill>
            <a:srgbClr val="F0932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HIGH RISK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SHIPMENTS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6217920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AAE7D"/>
                </a:solidFill>
              </a:rPr>
              <a:t>▲3% vs last wk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589520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46236" y="1014984"/>
            <a:ext cx="146304" cy="146304"/>
          </a:xfrm>
          <a:prstGeom prst="rect">
            <a:avLst/>
          </a:prstGeom>
          <a:solidFill>
            <a:srgbClr val="2F5FDA"/>
          </a:solidFill>
          <a:ln/>
        </p:spPr>
      </p:sp>
      <p:sp>
        <p:nvSpPr>
          <p:cNvPr id="33" name="Text 31"/>
          <p:cNvSpPr/>
          <p:nvPr/>
        </p:nvSpPr>
        <p:spPr>
          <a:xfrm>
            <a:off x="7662672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AI RISK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SCORE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7662672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42/100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62672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E5484D"/>
                </a:solidFill>
              </a:rPr>
              <a:t>▼4% vs last wk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9034272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0988" y="1014984"/>
            <a:ext cx="146304" cy="146304"/>
          </a:xfrm>
          <a:prstGeom prst="rect">
            <a:avLst/>
          </a:prstGeom>
          <a:solidFill>
            <a:srgbClr val="1AAE7D"/>
          </a:solidFill>
          <a:ln/>
        </p:spPr>
      </p:sp>
      <p:sp>
        <p:nvSpPr>
          <p:cNvPr id="38" name="Text 36"/>
          <p:cNvSpPr/>
          <p:nvPr/>
        </p:nvSpPr>
        <p:spPr>
          <a:xfrm>
            <a:off x="9107424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AVG RES.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TIME (hrs)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9107424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07424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E5484D"/>
                </a:solidFill>
              </a:rPr>
              <a:t>▼9% vs last wk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0479024" y="932688"/>
            <a:ext cx="1376172" cy="749808"/>
          </a:xfrm>
          <a:prstGeom prst="roundRect">
            <a:avLst>
              <a:gd name="adj" fmla="val 7317"/>
            </a:avLst>
          </a:prstGeom>
          <a:solidFill>
            <a:srgbClr val="F5F6F8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35740" y="1014984"/>
            <a:ext cx="146304" cy="146304"/>
          </a:xfrm>
          <a:prstGeom prst="rect">
            <a:avLst/>
          </a:prstGeom>
          <a:solidFill>
            <a:srgbClr val="2F5FDA"/>
          </a:solidFill>
          <a:ln/>
        </p:spPr>
      </p:sp>
      <p:sp>
        <p:nvSpPr>
          <p:cNvPr id="43" name="Text 41"/>
          <p:cNvSpPr/>
          <p:nvPr/>
        </p:nvSpPr>
        <p:spPr>
          <a:xfrm>
            <a:off x="10552176" y="987552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ACTIVE AI</a:t>
            </a:r>
            <a:endParaRPr lang="en-US" sz="63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30" b="1" kern="0" spc="50" dirty="0">
                <a:solidFill>
                  <a:srgbClr val="6B7280"/>
                </a:solidFill>
              </a:rPr>
              <a:t>RECOS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10552176" y="1234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52176" y="1463040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AAE7D"/>
                </a:solidFill>
              </a:rPr>
              <a:t>▲22% vs last wk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65760" y="1764792"/>
            <a:ext cx="11457432" cy="310896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176479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FDA"/>
                </a:solidFill>
              </a:rPr>
              <a:t>EXECUTIVE INSIGHT (AI-GENERATED):  </a:t>
            </a:r>
            <a:r>
              <a:rPr lang="en-US" sz="800" i="1" dirty="0">
                <a:solidFill>
                  <a:srgbClr val="374151"/>
                </a:solidFill>
              </a:rPr>
              <a:t>Incident volume down 12% w/w. PLANT-B is the top hotspot, with critical incidents requiring immediate escalation.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219456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Incident Trend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49" name="Chart 0"/>
          <p:cNvGraphicFramePr/>
          <p:nvPr>
            <p:extLst>
              <p:ext uri="{D42A27DB-BD31-4B8C-83A1-F6EECF244321}">
                <p14:modId xmlns:p14="http://schemas.microsoft.com/office/powerpoint/2010/main" val="3139202686"/>
              </p:ext>
            </p:extLst>
          </p:nvPr>
        </p:nvGraphicFramePr>
        <p:xfrm>
          <a:off x="365760" y="2395728"/>
          <a:ext cx="3685032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Text 47"/>
          <p:cNvSpPr/>
          <p:nvPr/>
        </p:nvSpPr>
        <p:spPr>
          <a:xfrm>
            <a:off x="4151376" y="219456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Severity by Location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51" name="Chart 1"/>
          <p:cNvGraphicFramePr/>
          <p:nvPr>
            <p:extLst>
              <p:ext uri="{D42A27DB-BD31-4B8C-83A1-F6EECF244321}">
                <p14:modId xmlns:p14="http://schemas.microsoft.com/office/powerpoint/2010/main" val="1547643251"/>
              </p:ext>
            </p:extLst>
          </p:nvPr>
        </p:nvGraphicFramePr>
        <p:xfrm>
          <a:off x="4151376" y="2395728"/>
          <a:ext cx="3685032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 48"/>
          <p:cNvSpPr/>
          <p:nvPr/>
        </p:nvSpPr>
        <p:spPr>
          <a:xfrm>
            <a:off x="7936992" y="219456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Hazard Distribution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53" name="Chart 2"/>
          <p:cNvGraphicFramePr/>
          <p:nvPr>
            <p:extLst>
              <p:ext uri="{D42A27DB-BD31-4B8C-83A1-F6EECF244321}">
                <p14:modId xmlns:p14="http://schemas.microsoft.com/office/powerpoint/2010/main" val="1803415184"/>
              </p:ext>
            </p:extLst>
          </p:nvPr>
        </p:nvGraphicFramePr>
        <p:xfrm>
          <a:off x="7936992" y="2395728"/>
          <a:ext cx="3685032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Text 49"/>
          <p:cNvSpPr/>
          <p:nvPr/>
        </p:nvSpPr>
        <p:spPr>
          <a:xfrm>
            <a:off x="365760" y="431596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Facility × Hazard Risk (avg score)</a:t>
            </a:r>
            <a:endParaRPr 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106191"/>
              </p:ext>
            </p:extLst>
          </p:nvPr>
        </p:nvGraphicFramePr>
        <p:xfrm>
          <a:off x="365760" y="4535424"/>
          <a:ext cx="3685032" cy="17830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12700" marR="127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ysClr val="windowText" lastClr="000000"/>
                          </a:solidFill>
                        </a:rPr>
                        <a:t>Corr.</a:t>
                      </a:r>
                      <a:endParaRPr lang="en-US" sz="7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ysClr val="windowText" lastClr="000000"/>
                          </a:solidFill>
                        </a:rPr>
                        <a:t>Flam.</a:t>
                      </a:r>
                      <a:endParaRPr lang="en-US" sz="7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ysClr val="windowText" lastClr="000000"/>
                          </a:solidFill>
                        </a:rPr>
                        <a:t>N-Haz</a:t>
                      </a:r>
                      <a:endParaRPr lang="en-US" sz="7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ysClr val="windowText" lastClr="000000"/>
                          </a:solidFill>
                        </a:rPr>
                        <a:t>Toxic</a:t>
                      </a:r>
                      <a:endParaRPr lang="en-US" sz="7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74151"/>
                          </a:solidFill>
                        </a:rPr>
                        <a:t>PLANT-A (5)</a:t>
                      </a:r>
                      <a:endParaRPr lang="en-US" sz="700" dirty="0"/>
                    </a:p>
                  </a:txBody>
                  <a:tcPr marL="12700" marR="127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43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9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24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26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74151"/>
                          </a:solidFill>
                        </a:rPr>
                        <a:t>PLANT-B (5)</a:t>
                      </a:r>
                      <a:endParaRPr lang="en-US" sz="700" dirty="0"/>
                    </a:p>
                  </a:txBody>
                  <a:tcPr marL="12700" marR="127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72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53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46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8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29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74151"/>
                          </a:solidFill>
                        </a:rPr>
                        <a:t>WH-01 (3)</a:t>
                      </a:r>
                      <a:endParaRPr lang="en-US" sz="700" dirty="0"/>
                    </a:p>
                  </a:txBody>
                  <a:tcPr marL="12700" marR="127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52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74151"/>
                          </a:solidFill>
                        </a:rPr>
                        <a:t>WH-02 (7)</a:t>
                      </a:r>
                      <a:endParaRPr lang="en-US" sz="700" dirty="0"/>
                    </a:p>
                  </a:txBody>
                  <a:tcPr marL="12700" marR="12700" marT="12700" marB="12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16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49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8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43</a:t>
                      </a:r>
                      <a:endParaRPr lang="en-US" sz="850" dirty="0"/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9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Text 50"/>
          <p:cNvSpPr/>
          <p:nvPr/>
        </p:nvSpPr>
        <p:spPr>
          <a:xfrm>
            <a:off x="365760" y="6391656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chemeClr val="bg1"/>
                </a:solidFill>
              </a:rPr>
              <a:t>Low risk → High risk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57" name="Text 51"/>
          <p:cNvSpPr/>
          <p:nvPr/>
        </p:nvSpPr>
        <p:spPr>
          <a:xfrm>
            <a:off x="4151376" y="431596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Recent Incidents (Top 4)</a:t>
            </a:r>
            <a:endParaRPr 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5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91929"/>
              </p:ext>
            </p:extLst>
          </p:nvPr>
        </p:nvGraphicFramePr>
        <p:xfrm>
          <a:off x="4151376" y="4535424"/>
          <a:ext cx="3512615" cy="1783080"/>
        </p:xfrm>
        <a:graphic>
          <a:graphicData uri="http://schemas.openxmlformats.org/drawingml/2006/table">
            <a:tbl>
              <a:tblPr/>
              <a:tblGrid>
                <a:gridCol w="100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ysClr val="windowText" lastClr="000000"/>
                          </a:solidFill>
                        </a:rPr>
                        <a:t>Incident</a:t>
                      </a: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ysClr val="windowText" lastClr="000000"/>
                          </a:solidFill>
                        </a:rPr>
                        <a:t>Facility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ysClr val="windowText" lastClr="000000"/>
                          </a:solidFill>
                        </a:rPr>
                        <a:t>Hazard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ysClr val="windowText" lastClr="000000"/>
                          </a:solidFill>
                        </a:rPr>
                        <a:t>Sev.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FL-2026-0020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PLANT-B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Fire Risk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E5484D"/>
                          </a:solidFill>
                        </a:rPr>
                        <a:t>Critical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FL-2026-0019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PLANT-B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Chemical Spill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0932B"/>
                          </a:solidFill>
                        </a:rPr>
                        <a:t>High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FL-2026-0018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WH-01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Gas Leak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0932B"/>
                          </a:solidFill>
                        </a:rPr>
                        <a:t>High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FL-2026-0017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WH-02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374151"/>
                          </a:solidFill>
                        </a:rPr>
                        <a:t>Equip. Malfunction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0932B"/>
                          </a:solidFill>
                        </a:rPr>
                        <a:t>High</a:t>
                      </a:r>
                      <a:endParaRPr lang="en-US" sz="68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 52"/>
          <p:cNvSpPr/>
          <p:nvPr/>
        </p:nvSpPr>
        <p:spPr>
          <a:xfrm>
            <a:off x="4151376" y="633679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chemeClr val="bg1"/>
                </a:solidFill>
              </a:rPr>
              <a:t>All 20 incidents currently under investigation status.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60" name="Text 53"/>
          <p:cNvSpPr/>
          <p:nvPr/>
        </p:nvSpPr>
        <p:spPr>
          <a:xfrm>
            <a:off x="7936992" y="431596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Key Takeaways &amp; Next Steps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1" name="Shape 54"/>
          <p:cNvSpPr/>
          <p:nvPr/>
        </p:nvSpPr>
        <p:spPr>
          <a:xfrm>
            <a:off x="7936992" y="4590288"/>
            <a:ext cx="201168" cy="201168"/>
          </a:xfrm>
          <a:prstGeom prst="ellipse">
            <a:avLst/>
          </a:prstGeom>
          <a:solidFill>
            <a:srgbClr val="2F5FDA"/>
          </a:solidFill>
          <a:ln/>
        </p:spPr>
      </p:sp>
      <p:sp>
        <p:nvSpPr>
          <p:cNvPr id="62" name="Text 55"/>
          <p:cNvSpPr/>
          <p:nvPr/>
        </p:nvSpPr>
        <p:spPr>
          <a:xfrm>
            <a:off x="7936992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3" name="Text 56"/>
          <p:cNvSpPr/>
          <p:nvPr/>
        </p:nvSpPr>
        <p:spPr>
          <a:xfrm>
            <a:off x="8229600" y="454456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chemeClr val="bg1"/>
                </a:solidFill>
              </a:rPr>
              <a:t>Escalate PLANT-B
</a:t>
            </a:r>
            <a:r>
              <a:rPr lang="en-US" sz="700" dirty="0">
                <a:solidFill>
                  <a:schemeClr val="bg1"/>
                </a:solidFill>
              </a:rPr>
              <a:t>Highest concentration of critical &amp; high-severity events.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4" name="Shape 57"/>
          <p:cNvSpPr/>
          <p:nvPr/>
        </p:nvSpPr>
        <p:spPr>
          <a:xfrm>
            <a:off x="7936992" y="5001768"/>
            <a:ext cx="201168" cy="201168"/>
          </a:xfrm>
          <a:prstGeom prst="ellipse">
            <a:avLst/>
          </a:prstGeom>
          <a:solidFill>
            <a:srgbClr val="2F5FDA"/>
          </a:solidFill>
          <a:ln/>
        </p:spPr>
      </p:sp>
      <p:sp>
        <p:nvSpPr>
          <p:cNvPr id="65" name="Text 58"/>
          <p:cNvSpPr/>
          <p:nvPr/>
        </p:nvSpPr>
        <p:spPr>
          <a:xfrm>
            <a:off x="7936992" y="5001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66" name="Text 59"/>
          <p:cNvSpPr/>
          <p:nvPr/>
        </p:nvSpPr>
        <p:spPr>
          <a:xfrm>
            <a:off x="8229600" y="495604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chemeClr val="bg1"/>
                </a:solidFill>
              </a:rPr>
              <a:t>Contain gas leak trend
</a:t>
            </a:r>
            <a:r>
              <a:rPr lang="en-US" sz="700" dirty="0">
                <a:solidFill>
                  <a:schemeClr val="bg1"/>
                </a:solidFill>
              </a:rPr>
              <a:t>Toxic class dominates hazard mix — audit WH-01 &amp; PLANT-B.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7" name="Shape 60"/>
          <p:cNvSpPr/>
          <p:nvPr/>
        </p:nvSpPr>
        <p:spPr>
          <a:xfrm>
            <a:off x="7936992" y="5413248"/>
            <a:ext cx="201168" cy="201168"/>
          </a:xfrm>
          <a:prstGeom prst="ellipse">
            <a:avLst/>
          </a:prstGeom>
          <a:solidFill>
            <a:srgbClr val="2F5FDA"/>
          </a:solidFill>
          <a:ln/>
        </p:spPr>
      </p:sp>
      <p:sp>
        <p:nvSpPr>
          <p:cNvPr id="68" name="Text 61"/>
          <p:cNvSpPr/>
          <p:nvPr/>
        </p:nvSpPr>
        <p:spPr>
          <a:xfrm>
            <a:off x="7936992" y="5413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69" name="Text 62"/>
          <p:cNvSpPr/>
          <p:nvPr/>
        </p:nvSpPr>
        <p:spPr>
          <a:xfrm>
            <a:off x="8229600" y="536752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chemeClr val="bg1"/>
                </a:solidFill>
              </a:rPr>
              <a:t>Adopt AI recommendations
</a:t>
            </a:r>
            <a:r>
              <a:rPr lang="en-US" sz="700" dirty="0">
                <a:solidFill>
                  <a:schemeClr val="bg1"/>
                </a:solidFill>
              </a:rPr>
              <a:t>17 active recos queued; adoption trending +22% w/w.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0" name="Shape 63"/>
          <p:cNvSpPr/>
          <p:nvPr/>
        </p:nvSpPr>
        <p:spPr>
          <a:xfrm>
            <a:off x="7936992" y="5824728"/>
            <a:ext cx="201168" cy="201168"/>
          </a:xfrm>
          <a:prstGeom prst="ellipse">
            <a:avLst/>
          </a:prstGeom>
          <a:solidFill>
            <a:srgbClr val="2F5FDA"/>
          </a:solidFill>
          <a:ln/>
        </p:spPr>
      </p:sp>
      <p:sp>
        <p:nvSpPr>
          <p:cNvPr id="71" name="Text 64"/>
          <p:cNvSpPr/>
          <p:nvPr/>
        </p:nvSpPr>
        <p:spPr>
          <a:xfrm>
            <a:off x="7936992" y="5824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72" name="Text 65"/>
          <p:cNvSpPr/>
          <p:nvPr/>
        </p:nvSpPr>
        <p:spPr>
          <a:xfrm>
            <a:off x="8229600" y="577900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chemeClr val="bg1"/>
                </a:solidFill>
              </a:rPr>
              <a:t>Sustain momentum
</a:t>
            </a:r>
            <a:r>
              <a:rPr lang="en-US" sz="700" dirty="0">
                <a:solidFill>
                  <a:schemeClr val="bg1"/>
                </a:solidFill>
              </a:rPr>
              <a:t>Volume down 12% w/w; resolution time improved 9%.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4" name="Text 67"/>
          <p:cNvSpPr/>
          <p:nvPr/>
        </p:nvSpPr>
        <p:spPr>
          <a:xfrm>
            <a:off x="6336792" y="66568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CA3AF"/>
                </a:solidFill>
              </a:rPr>
              <a:t>Prepared for executive review  •  July 21, 2026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13267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849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223268"/>
            <a:ext cx="6296860" cy="94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 smtClean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Nexus 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Ops Solutions  |  Tanuja N  &amp;  Rashmi P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AI-Powered Supply Chain Anomaly Monitoring &amp; Hazard Event Logging Pipeline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575223"/>
            <a:ext cx="6296860" cy="3824288"/>
          </a:xfrm>
          <a:prstGeom prst="roundRect">
            <a:avLst>
              <a:gd name="adj" fmla="val 1816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581573"/>
            <a:ext cx="6284160" cy="952897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7" name="Text 4"/>
          <p:cNvSpPr/>
          <p:nvPr/>
        </p:nvSpPr>
        <p:spPr>
          <a:xfrm>
            <a:off x="833119" y="274687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104555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n8n Workflow Engine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825" y="3534470"/>
            <a:ext cx="6284160" cy="952897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3534470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414A70"/>
          </a:solidFill>
          <a:ln/>
        </p:spPr>
      </p:sp>
      <p:sp>
        <p:nvSpPr>
          <p:cNvPr id="11" name="Text 8"/>
          <p:cNvSpPr/>
          <p:nvPr/>
        </p:nvSpPr>
        <p:spPr>
          <a:xfrm>
            <a:off x="833119" y="3699768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119" y="4057452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Groq LLM AI Agent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825" y="4487366"/>
            <a:ext cx="6284160" cy="952897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487366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414A70"/>
          </a:solidFill>
          <a:ln/>
        </p:spPr>
      </p:sp>
      <p:sp>
        <p:nvSpPr>
          <p:cNvPr id="15" name="Text 12"/>
          <p:cNvSpPr/>
          <p:nvPr/>
        </p:nvSpPr>
        <p:spPr>
          <a:xfrm>
            <a:off x="833119" y="465266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010348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Lovable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825" y="5440263"/>
            <a:ext cx="6284160" cy="952897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440263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414A70"/>
          </a:solidFill>
          <a:ln/>
        </p:spPr>
      </p:sp>
      <p:sp>
        <p:nvSpPr>
          <p:cNvPr id="19" name="Text 16"/>
          <p:cNvSpPr/>
          <p:nvPr/>
        </p:nvSpPr>
        <p:spPr>
          <a:xfrm>
            <a:off x="833119" y="5605562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3119" y="5963245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42 Incidents Monitored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516</Words>
  <Application>Microsoft Office PowerPoint</Application>
  <PresentationFormat>Widescreen</PresentationFormat>
  <Paragraphs>166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Epilogue Bold</vt:lpstr>
      <vt:lpstr>Epilogue</vt:lpstr>
      <vt:lpstr>Calibri</vt:lpstr>
      <vt:lpstr>Georgia</vt:lpstr>
      <vt:lpstr>Fraunces Medium</vt:lpstr>
      <vt:lpstr>Fraunces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FCI</cp:lastModifiedBy>
  <cp:revision>9</cp:revision>
  <dcterms:created xsi:type="dcterms:W3CDTF">2026-07-21T11:34:23Z</dcterms:created>
  <dcterms:modified xsi:type="dcterms:W3CDTF">2026-07-22T08:40:47Z</dcterms:modified>
</cp:coreProperties>
</file>